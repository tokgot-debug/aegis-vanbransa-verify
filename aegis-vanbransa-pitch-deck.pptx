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Theme1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vanbransa-log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r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Logo Box"/>
          <p:cNvSpPr/>
          <p:nvPr/>
        </p:nvSpPr>
        <p:spPr>
          <a:xfrm>
            <a:off x="685800" y="594360"/>
            <a:ext cx="2148840" cy="6217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3A2E25"/>
            </a:solidFill>
          </a:ln>
        </p:spPr>
        <p:txBody>
          <a:bodyPr/>
          <a:lstStyle/>
          <a:p/>
        </p:txBody>
      </p:sp>
      <p:pic>
        <p:nvPicPr>
          <p:cNvPr id="5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804672" y="667512"/>
            <a:ext cx="1901952" cy="475488"/>
          </a:xfrm>
          <a:prstGeom prst="rect">
            <a:avLst/>
          </a:prstGeom>
        </p:spPr>
      </p:pic>
      <p:sp>
        <p:nvSpPr>
          <p:cNvPr id="6" name="Tagline"/>
          <p:cNvSpPr txBox="1"/>
          <p:nvPr/>
        </p:nvSpPr>
        <p:spPr>
          <a:xfrm>
            <a:off x="3017520" y="71323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 •  NATIONAL ANTI-COUNTERFEIT &amp; DOOH INFRASTRUCTURE</a:t>
            </a:r>
          </a:p>
        </p:txBody>
      </p:sp>
      <p:sp>
        <p:nvSpPr>
          <p:cNvPr id="7" name="Hero Headline"/>
          <p:cNvSpPr txBox="1"/>
          <p:nvPr/>
        </p:nvSpPr>
        <p:spPr>
          <a:xfrm>
            <a:off x="685800" y="1481328"/>
            <a:ext cx="667512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14300" bIns="9144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8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Every bottle carries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38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an identity.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8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Anyone can check it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38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in seconds.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Aegis gives each beverage unit a phone-checkable ECDSA cryptographic identity, binds it to the KRA excise stamp, and links live scan scoring to VANBRANSA smart roadside billboards and AI enforcement.</a:t>
            </a:r>
          </a:p>
        </p:txBody>
      </p:sp>
      <p:sp>
        <p:nvSpPr>
          <p:cNvPr id="8" name="Scan Engine Card"/>
          <p:cNvSpPr txBox="1"/>
          <p:nvPr/>
        </p:nvSpPr>
        <p:spPr>
          <a:xfrm>
            <a:off x="7635240" y="1481328"/>
            <a:ext cx="3886200" cy="3246120"/>
          </a:xfrm>
          <a:prstGeom prst="roundRect">
            <a:avLst>
              <a:gd name="adj" fmla="val 5000"/>
            </a:avLst>
          </a:prstGeom>
          <a:solidFill>
            <a:srgbClr val="120F0D"/>
          </a:solidFill>
          <a:ln w="12700">
            <a:solidFill>
              <a:srgbClr val="F97316"/>
            </a:solidFill>
          </a:ln>
        </p:spPr>
        <p:txBody>
          <a:bodyPr wrap="square" lIns="180000" tIns="180000" rIns="180000" bIns="18000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SCAN ENGINE • LIVE TELEMETRY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5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SNT-FA24-57D2-13EE-EC26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110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Aegis Reserve Whisky 750ml • Nakuru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15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STATUS: ALREADY OPENED  |  RISK 74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· already_opened (POS Retired 2026-10-19)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· post_retirement_scan (Nakuru Town East)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· VANBRANSA DOOH Alert: TRIGGERED</a:t>
            </a:r>
          </a:p>
        </p:txBody>
      </p:sp>
      <p:sp>
        <p:nvSpPr>
          <p:cNvPr id="9" name="Stat 1"/>
          <p:cNvSpPr txBox="1"/>
          <p:nvPr/>
        </p:nvSpPr>
        <p:spPr>
          <a:xfrm>
            <a:off x="685800" y="5074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6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56%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of alcohol sold in Kenya is illicit (Euromonitor / KRA 2025)</a:t>
            </a:r>
          </a:p>
        </p:txBody>
      </p:sp>
      <p:sp>
        <p:nvSpPr>
          <p:cNvPr id="10" name="Stat 2"/>
          <p:cNvSpPr txBox="1"/>
          <p:nvPr/>
        </p:nvSpPr>
        <p:spPr>
          <a:xfrm>
            <a:off x="3410712" y="5074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Sh 71.3B–120B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in annual excise &amp; tax revenue lost to illicit trade</a:t>
            </a:r>
          </a:p>
        </p:txBody>
      </p:sp>
      <p:sp>
        <p:nvSpPr>
          <p:cNvPr id="11" name="Stat 3"/>
          <p:cNvSpPr txBox="1"/>
          <p:nvPr/>
        </p:nvSpPr>
        <p:spPr>
          <a:xfrm>
            <a:off x="6135624" y="5074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6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49.9%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of inspected excise stamps flagged as counterfeit or misused</a:t>
            </a:r>
          </a:p>
        </p:txBody>
      </p:sp>
      <p:sp>
        <p:nvSpPr>
          <p:cNvPr id="12" name="Stat 4"/>
          <p:cNvSpPr txBox="1"/>
          <p:nvPr/>
        </p:nvSpPr>
        <p:spPr>
          <a:xfrm>
            <a:off x="8860536" y="5074920"/>
            <a:ext cx="2651760" cy="1143000"/>
          </a:xfrm>
          <a:prstGeom prst="roundRect">
            <a:avLst>
              <a:gd name="adj" fmla="val 40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6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4 : 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counterfeit-to-genuine ratio found in targeted retail sweeps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THE ILLICIT BEVERAGE CRISIS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Why Legacy Paper Excise Stamps Are Failing at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Counterfeit syndicates exploit unbound paper stamps and empty genuine bottles across Kenya's retail &amp; hospitality corridors.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02 / 10</a:t>
            </a:r>
          </a:p>
        </p:txBody>
      </p:sp>
      <p:sp>
        <p:nvSpPr>
          <p:cNvPr id="11" name="Vector 1"/>
          <p:cNvSpPr txBox="1"/>
          <p:nvPr/>
        </p:nvSpPr>
        <p:spPr>
          <a:xfrm>
            <a:off x="594360" y="1536192"/>
            <a:ext cx="5349240" cy="224028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F43F5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43F5E"/>
                </a:solidFill>
                <a:latin typeface="Courier New"/>
                <a:ea typeface="Courier New"/>
                <a:cs typeface="Courier New"/>
              </a:rPr>
              <a:t>ATTACK VECTOR 01 • CLONED &amp; UP-CYCLED EXCISE STAMPS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Photocopied 500ml Water Stamps on 750ml Spirits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Syndicates purchase low-duty 500ml water stamps or print offset CMYK clones and affix them to high-duty 750ml spirits.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Accounts for 48% of counterfeit detections in Nairobi Eastlands (Kariobangi South cluster — Specimen AEG-FAKE-0013-CLN, RISK 98).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97316"/>
                </a:solidFill>
                <a:latin typeface="Inter"/>
                <a:ea typeface="Inter"/>
                <a:cs typeface="Inter"/>
              </a:rPr>
              <a:t>• Missing 365nm rare-earth dual-peak UV fluorescence &amp; micro-intaglio.</a:t>
            </a:r>
          </a:p>
        </p:txBody>
      </p:sp>
      <p:sp>
        <p:nvSpPr>
          <p:cNvPr id="12" name="Vector 2"/>
          <p:cNvSpPr txBox="1"/>
          <p:nvPr/>
        </p:nvSpPr>
        <p:spPr>
          <a:xfrm>
            <a:off x="6217920" y="1536192"/>
            <a:ext cx="5376672" cy="224028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F59E0B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ATTACK VECTOR 02 • POST-RETIREMENT BOTTLE REFILLS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Genuine Bottles Refilled After POS Sale (RISK 74)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Empty genuine bottles with valid factory stamps are collected from bars and refilled with unassayed industrial ethanol or methanol.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Fastest-growing hospitality vector in Nakuru (+18% scan velocity — Specimen SNT-FA24-57D2-13EE-EC26).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• Legacy stamps cannot tell if a bottle was already opened 72 hours ago.</a:t>
            </a:r>
          </a:p>
        </p:txBody>
      </p:sp>
      <p:sp>
        <p:nvSpPr>
          <p:cNvPr id="13" name="Impact Box"/>
          <p:cNvSpPr txBox="1"/>
          <p:nvPr/>
        </p:nvSpPr>
        <p:spPr>
          <a:xfrm>
            <a:off x="594360" y="3977640"/>
            <a:ext cx="11000232" cy="2148840"/>
          </a:xfrm>
          <a:prstGeom prst="roundRect">
            <a:avLst>
              <a:gd name="adj" fmla="val 4500"/>
            </a:avLst>
          </a:prstGeom>
          <a:solidFill>
            <a:srgbClr val="14110F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THREE CRITICAL SYSTEMIC GAPS SOLVED BY PROJECT AEGIS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1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1. No Cryptographic SKU Binding: Traditional stamps do not cryptographically bind the individual bottle serial, GTIN, ABV, and bottling line hash to the KRA stamp.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1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2. Zero Point-of-Sale (POS) Lifecycle Retirement: Without POS retirement, a genuine stamp remains 'valid' forever—enabling infinite illicit refills of empty bottles.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3. Disconnected Public Awareness &amp; Enforcement: Consumers lack zero-install tools at the point of purchase, and roadside media is not linked to real-time county threat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TECHNICAL ARCHITECTURE (/BLUEPRINT)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How Aegis Binds Identity to Every Bottle in &lt;150ms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Four defense-in-depth layers combining hardware cryptography, optical taggant physics, POS retirement, and graph AI.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03 / 10</a:t>
            </a:r>
          </a:p>
        </p:txBody>
      </p:sp>
      <p:sp>
        <p:nvSpPr>
          <p:cNvPr id="11" name="Layer 1"/>
          <p:cNvSpPr txBox="1"/>
          <p:nvPr/>
        </p:nvSpPr>
        <p:spPr>
          <a:xfrm>
            <a:off x="594360" y="1572768"/>
            <a:ext cx="2633472" cy="333756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L1 • CRYPTO-STAMP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4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Unit Identity &amp; Excise Binding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Latency: 12ms  |  Acc: 99.99%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Bottling line HSM signs each unit (ECDSA P-256) and anchors the bottle serial + SKU + ABV directly to the KRA excise stamp reel.</a:t>
            </a:r>
          </a:p>
        </p:txBody>
      </p:sp>
      <p:sp>
        <p:nvSpPr>
          <p:cNvPr id="12" name="Layer 2"/>
          <p:cNvSpPr txBox="1"/>
          <p:nvPr/>
        </p:nvSpPr>
        <p:spPr>
          <a:xfrm>
            <a:off x="3383280" y="1572768"/>
            <a:ext cx="2633472" cy="333756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L2 • OPTICAL-TAGGANT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4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365nm UV &amp; Halftone Pixel Assay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Latency: 38ms  |  Acc: 99.85%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Dual-band rare-earth UV taggant fluorescence + HTML5 Canvas luminance contrast (&gt;38σ) defeats commercial CMYK photocopiers.</a:t>
            </a:r>
          </a:p>
        </p:txBody>
      </p:sp>
      <p:sp>
        <p:nvSpPr>
          <p:cNvPr id="13" name="Layer 3"/>
          <p:cNvSpPr txBox="1"/>
          <p:nvPr/>
        </p:nvSpPr>
        <p:spPr>
          <a:xfrm>
            <a:off x="6172200" y="1572768"/>
            <a:ext cx="2633472" cy="333756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L3 • POS-RETIREMENT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4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Tamper-Bridge &amp; Lifecycle Lock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Latency: 18ms  |  Acc: 99.92%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Retail &amp; hospitality POS scan retires the unit identity upon sale. Any subsequent scan flags ALREADY OPENED (RISK 74).</a:t>
            </a:r>
          </a:p>
        </p:txBody>
      </p:sp>
      <p:sp>
        <p:nvSpPr>
          <p:cNvPr id="14" name="Layer 4"/>
          <p:cNvSpPr txBox="1"/>
          <p:nvPr/>
        </p:nvSpPr>
        <p:spPr>
          <a:xfrm>
            <a:off x="8961120" y="1572768"/>
            <a:ext cx="2633472" cy="333756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L4 • SYNDICATE-GRAPH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4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Spatiotemporal Velocity &amp; AI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Latency: 65ms  |  Acc: 99.60%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Impossible-travel geofence engine &amp; Aegis Cortex v4.2 detect cloned serials scanned across multiple sub-counties and dispatch raids.</a:t>
            </a:r>
          </a:p>
        </p:txBody>
      </p:sp>
      <p:sp>
        <p:nvSpPr>
          <p:cNvPr id="16" name="Pipeline Strip"/>
          <p:cNvSpPr txBox="1"/>
          <p:nvPr/>
        </p:nvSpPr>
        <p:spPr>
          <a:xfrm>
            <a:off x="594360" y="5120640"/>
            <a:ext cx="11000232" cy="1051560"/>
          </a:xfrm>
          <a:prstGeom prst="roundRect">
            <a:avLst>
              <a:gd name="adj" fmla="val 4000"/>
            </a:avLst>
          </a:prstGeom>
          <a:solidFill>
            <a:srgbClr val="14110F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END-TO-END SCORING PIPELINE (&lt;150MS TOTAL LATENCY)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[1. HSM MINT &amp; STAMP BIND (/mint)]  →  [2. PHONE / UV OPTICAL SCAN (/verify)]  →  [3. RISK &amp; VELOCITY SCORING (/blueprint)]  →  [4. TRADE RADAR &amp; DOOH ALERT (/trade + /dooh)]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UNIFIED PLATFORM ECOSYSTEM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Six Interrelated Modules Operating as One Closed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Every action in one module updates live state, sidebar badges, county risk feeds, and AI analytics across the entire platform.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04 / 10</a:t>
            </a:r>
          </a:p>
        </p:txBody>
      </p:sp>
      <p:sp>
        <p:nvSpPr>
          <p:cNvPr id="11" name="1. Check a Bottle (/verify)"/>
          <p:cNvSpPr txBox="1"/>
          <p:nvPr/>
        </p:nvSpPr>
        <p:spPr>
          <a:xfrm>
            <a:off x="594360" y="1554480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1. Check a Bottle (/verify)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Phone-checkable cryptographic unit lookup, WebRTC BarcodeDetector camera, 365nm UV spectrometer, Stamp Photo pixel forensics, POS retirement, and downloadable Forensic Certificate.</a:t>
            </a:r>
          </a:p>
        </p:txBody>
      </p:sp>
      <p:sp>
        <p:nvSpPr>
          <p:cNvPr id="12" name="2. Aegis Blueprint (/blueprint)"/>
          <p:cNvSpPr txBox="1"/>
          <p:nvPr/>
        </p:nvSpPr>
        <p:spPr>
          <a:xfrm>
            <a:off x="4325112" y="1554480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2. Aegis Blueprint (/blueprint)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Interactive 4-layer technical specification explorer and real-time Threat Attack Vector Simulator (Genuine Risk 3, Refilled Risk 74, Cloned Syndicate Risk 98) with 1-click scanner handoff.</a:t>
            </a:r>
          </a:p>
        </p:txBody>
      </p:sp>
      <p:sp>
        <p:nvSpPr>
          <p:cNvPr id="13" name="3. Trade Surveillance (/trade)"/>
          <p:cNvSpPr txBox="1"/>
          <p:nvPr/>
        </p:nvSpPr>
        <p:spPr>
          <a:xfrm>
            <a:off x="8055864" y="1554480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F43F5E"/>
                </a:solidFill>
                <a:latin typeface="Courier New"/>
                <a:ea typeface="Courier New"/>
                <a:cs typeface="Courier New"/>
              </a:rPr>
              <a:t>3. Trade Surveillance (/trade)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Kenya Corridor Syndicate Radar across Nairobi, Nakuru, Busia, Mombasa, and Eldoret with active seizure warrants, severity filtering, and 1-click DOOH &amp; AI Cortex synchronization.</a:t>
            </a:r>
          </a:p>
        </p:txBody>
      </p:sp>
      <p:sp>
        <p:nvSpPr>
          <p:cNvPr id="14" name="4. Mint &amp; Stamp Bind (/mint)"/>
          <p:cNvSpPr txBox="1"/>
          <p:nvPr/>
        </p:nvSpPr>
        <p:spPr>
          <a:xfrm>
            <a:off x="594360" y="3858768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4. Mint &amp; Stamp Bind (/mint)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Bottling Line HSM batch provisioning that generates ECDSA-signed unit identities, binds KRA stamp reels, prints scannable SVG QR neck labels, and updates the live specimen database.</a:t>
            </a:r>
          </a:p>
        </p:txBody>
      </p:sp>
      <p:sp>
        <p:nvSpPr>
          <p:cNvPr id="15" name="5. VANBRANSA DOOH (/dooh)"/>
          <p:cNvSpPr txBox="1"/>
          <p:nvPr/>
        </p:nvSpPr>
        <p:spPr>
          <a:xfrm>
            <a:off x="4325112" y="3858768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5. VANBRANSA DOOH (/dooh)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Nationwide 16:9 smart roadside LED billboard command center with Auto-Trigger when County Risk &gt; 70, switching screens to Emergency Counterfeit Alert with consumer QR scan handoff.</a:t>
            </a:r>
          </a:p>
        </p:txBody>
      </p:sp>
      <p:sp>
        <p:nvSpPr>
          <p:cNvPr id="16" name="6. AI Cortex Reports (/reports)"/>
          <p:cNvSpPr txBox="1"/>
          <p:nvPr/>
        </p:nvSpPr>
        <p:spPr>
          <a:xfrm>
            <a:off x="8055864" y="3858768"/>
            <a:ext cx="3547872" cy="21031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6. AI Cortex Reports (/reports)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Aegis Cortex v4.2 neural copilot, custom forensic query synthesis, Monthly Excise Recovery charts, County Risk Matrix, What-If Policy Simulator, and CSV/JSON/Audit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LAST-MILE VERIFICATION (/VERIFY)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Phone-Checkable Unit Identity, Optical Forensics &amp; POS Retirement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Empowering consumers, bar owners, and KRA/KEBS inspectors to verify any bottle in under 2 seconds with zero app install.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05 / 10</a:t>
            </a:r>
          </a:p>
        </p:txBody>
      </p:sp>
      <p:sp>
        <p:nvSpPr>
          <p:cNvPr id="11" name="Left Specimen"/>
          <p:cNvSpPr txBox="1"/>
          <p:nvPr/>
        </p:nvSpPr>
        <p:spPr>
          <a:xfrm>
            <a:off x="594360" y="1554480"/>
            <a:ext cx="5349240" cy="45720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6-POINT CRYPTOGRAPHIC &amp; SPECTRAL TELEMETRY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1. 365nm UV Fluorescence Assay: Validates dual-peak rare-earth security ink on KRA stamps vs. dead paper clones.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2. Macro Stamp Photo Pixel Forensics: Client-side HTML5 Canvas computes luminance σ contrast &amp; SNR to flag CMYK halftone dots.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3. Closure &amp; POS Retirement State: Retailers click 'POS Retire / Mark Opened' at sale, permanently locking the bottle identity.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4. Chemical &amp; Methanol Profile: Cross-references batch GC-MS lab certification (&lt;5.0 ppm safe vs. &gt;4,200 ppm toxic warning).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5. Diffractive Kinegram Shift &amp; Ledger Anchor: Verifies 45° optical foil shift and immutable SHA-256 chain-of-custody hash.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6. Downloadable Forensic Certificate: Generates a standalone HTML/PDF court-ready evidentiary certificate with unit QR.</a:t>
            </a:r>
          </a:p>
        </p:txBody>
      </p:sp>
      <p:sp>
        <p:nvSpPr>
          <p:cNvPr id="12" name="Right Specimens Table"/>
          <p:cNvSpPr txBox="1"/>
          <p:nvPr/>
        </p:nvSpPr>
        <p:spPr>
          <a:xfrm>
            <a:off x="6172200" y="1554480"/>
            <a:ext cx="5422392" cy="45720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LIVE BENCHMARK SPECIMENS IN AEGIS DATABASE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● AEG-2026-8841-KEN — Tusker Malt Premium Lager 330ml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   Verdict: VERIFIED GENUINE (RISK 3) • Ruaraka Bottling Line #4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5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● SNT-FA24-57D2-13EE-EC26 — Aegis Reserve Whisky 750ml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   Verdict: ALREADY OPENED (RISK 74) • Post-Retirement Refill in Nakuru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50" b="1" dirty="0">
                <a:solidFill>
                  <a:srgbClr val="F43F5E"/>
                </a:solidFill>
                <a:latin typeface="Courier New"/>
                <a:ea typeface="Courier New"/>
                <a:cs typeface="Courier New"/>
              </a:rPr>
              <a:t>● AEG-FAKE-0013-CLN — Royal Crown Gin 750ml (Cloned Batch)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0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   Verdict: CLONED STAMP FAKE (RISK 98) • 87x Velocity in Kariobangi South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15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● AEG-2026-3109-MBS — Coastal Gold Dark Rum 750ml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   Verdict: GEOFENCE ANOMALY (RISK 68) • Diverted from Mombasa to Busia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VANBRANSA DOOH COMMAND CENTER (/DOOH)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Turning Roadside Digital Billboards into an Active Defense Shield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Real-time integration between Aegis county risk telemetry and VANBRANSA's high-impact roadside LED network.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06 / 10</a:t>
            </a:r>
          </a:p>
        </p:txBody>
      </p:sp>
      <p:sp>
        <p:nvSpPr>
          <p:cNvPr id="11" name="DOOH Sim"/>
          <p:cNvSpPr txBox="1"/>
          <p:nvPr/>
        </p:nvSpPr>
        <p:spPr>
          <a:xfrm>
            <a:off x="594360" y="1554480"/>
            <a:ext cx="6263640" cy="2971800"/>
          </a:xfrm>
          <a:prstGeom prst="roundRect">
            <a:avLst>
              <a:gd name="adj" fmla="val 5000"/>
            </a:avLst>
          </a:prstGeom>
          <a:solidFill>
            <a:srgbClr val="1A0B0E"/>
          </a:solidFill>
          <a:ln w="12700">
            <a:solidFill>
              <a:srgbClr val="F43F5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F43F5E"/>
                </a:solidFill>
                <a:latin typeface="Courier New"/>
                <a:ea typeface="Courier New"/>
                <a:cs typeface="Courier New"/>
              </a:rPr>
              <a:t>VANBRANSA SMART GANTRY • VNB-NRB-01 (THIKA SUPERHIGHWAY)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9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EMERGENCY COUNTERFEIT ALERT IN NAIROBI EAST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1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Cloned KRA stamps detected on Royal Crown Gin 750ml (Batch AEG-FAKE-0013-CLN). Scan your bottle QR code in 2 seconds before you sip.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[ CTA: SCAN BOTTLE QR NOW → aegis-vanbransa.web.app/#/verify 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0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Daily Reach: 184,000 Commuters/Day  •  Local Risk: RISK 88  •  4G/Starlink Synced</a:t>
            </a:r>
          </a:p>
        </p:txBody>
      </p:sp>
      <p:sp>
        <p:nvSpPr>
          <p:cNvPr id="12" name="DOOH Fleet"/>
          <p:cNvSpPr txBox="1"/>
          <p:nvPr/>
        </p:nvSpPr>
        <p:spPr>
          <a:xfrm>
            <a:off x="7086600" y="1554480"/>
            <a:ext cx="4507992" cy="29718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NATIONWIDE SMART SCREEN INVENTORY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1" dirty="0">
                <a:solidFill>
                  <a:srgbClr val="F43F5E"/>
                </a:solidFill>
                <a:latin typeface="Inter"/>
                <a:ea typeface="Inter"/>
                <a:cs typeface="Inter"/>
              </a:rPr>
              <a:t>1. VNB-NRB-01 • Thika Superhighway (184k/day) — EMERGENCY ALERT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2. VNB-NAK-02 • Kenyatta Ave, Nakuru (96k/day) — REFILL WARNING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3. VNB-NRB-03 • Westlands Waiyaki Way (210k/day) — BRAND TRUST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4. VNB-MBS-04 • Nyali Bridge, Mombasa (142k/day) — REFILL WARNING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43F5E"/>
                </a:solidFill>
                <a:latin typeface="Inter"/>
                <a:ea typeface="Inter"/>
                <a:cs typeface="Inter"/>
              </a:rPr>
              <a:t>5. VNB-ELD-05 • Uganda Rd, Eldoret (88k/day) — EMERGENCY ALERT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Total Active Reach: 720,000+ Daily Verified Impressions</a:t>
            </a:r>
          </a:p>
        </p:txBody>
      </p:sp>
      <p:sp>
        <p:nvSpPr>
          <p:cNvPr id="13" name="DOOH Impact"/>
          <p:cNvSpPr txBox="1"/>
          <p:nvPr/>
        </p:nvSpPr>
        <p:spPr>
          <a:xfrm>
            <a:off x="594360" y="4709160"/>
            <a:ext cx="11000232" cy="1463040"/>
          </a:xfrm>
          <a:prstGeom prst="roundRect">
            <a:avLst>
              <a:gd name="adj" fmla="val 4000"/>
            </a:avLst>
          </a:prstGeom>
          <a:solidFill>
            <a:srgbClr val="14110F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MEASURED CAMPAIGN &amp; PUBLIC HEALTH IMPACT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• +240% Consumer Scan Uplift between 18:00 and 23:00 EAT when 'SCAN BEFORE YOU SIP' creative runs within 500m of hospitality zones.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• Closed-Loop Auto-Sync: Filing a field seizure warrant in /trade or scanning a fake bottle in /verify automatically switches regional VANBRANSA billboards to Emergency Alert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AI REPORTS &amp; EXCISE ANALYTICS (/REPORTS)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Aegis Cortex v4.2: +290.5% Surge in Monthly Excise Tax Recovered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Neural graph telemetry across 14.2M scan vectors quantifies tax recovery and forecasts syndicate movement.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07 / 10</a:t>
            </a:r>
          </a:p>
        </p:txBody>
      </p:sp>
      <p:sp>
        <p:nvSpPr>
          <p:cNvPr id="11" name="Revenue Trajectory"/>
          <p:cNvSpPr txBox="1"/>
          <p:nvPr/>
        </p:nvSpPr>
        <p:spPr>
          <a:xfrm>
            <a:off x="594360" y="1554480"/>
            <a:ext cx="5577840" cy="30175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10B981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6-MONTH EXCISE TAX RECOVERY TRAJECTORY (SH MILLIONS)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May 2026:  Sh  42M Recovered   |   Illicit Index: 64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Jun 2026:  Sh  58M Recovered   |   Illicit Index: 59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Jul 2026:  Sh  79M Recovered   |   Illicit Index: 52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Aug 2026:  Sh  96M Recovered   |   Illicit Index: 47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dirty="0">
                <a:solidFill>
                  <a:srgbClr val="D6D3D1"/>
                </a:solidFill>
                <a:latin typeface="Courier New"/>
                <a:ea typeface="Courier New"/>
                <a:cs typeface="Courier New"/>
              </a:rPr>
              <a:t>Sep 2026:  Sh 123M Recovered   |   Illicit Index: 41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Oct 2026:  Sh 164M Recovered   |   Illicit Index: 34 (-46.8%)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Cumulative 6-Month Protected Excise Revenue: Sh 562.0 Million</a:t>
            </a:r>
          </a:p>
        </p:txBody>
      </p:sp>
      <p:sp>
        <p:nvSpPr>
          <p:cNvPr id="12" name="County Risk Ranking"/>
          <p:cNvSpPr txBox="1"/>
          <p:nvPr/>
        </p:nvSpPr>
        <p:spPr>
          <a:xfrm>
            <a:off x="6355080" y="1554480"/>
            <a:ext cx="5239512" cy="301752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REGIONAL COUNTERFEIT RISK MATRIX (AEGIS CORTEX)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050" b="1" dirty="0">
                <a:solidFill>
                  <a:srgbClr val="F43F5E"/>
                </a:solidFill>
                <a:latin typeface="Inter"/>
                <a:ea typeface="Inter"/>
                <a:cs typeface="Inter"/>
              </a:rPr>
              <a:t>1. Nairobi County (RISK 88 • 34% Share) — Cloned 500ml Water Stamps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050" b="1" dirty="0">
                <a:solidFill>
                  <a:srgbClr val="F43F5E"/>
                </a:solidFill>
                <a:latin typeface="Inter"/>
                <a:ea typeface="Inter"/>
                <a:cs typeface="Inter"/>
              </a:rPr>
              <a:t>2. Busia Border (RISK 83 • 14% Share) — Unstamped Ethanol Smuggling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0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3. Nakuru County (RISK 76 • 19% Share) — Post-Retirement Bottle Refills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0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4. Mombasa Corridor (RISK 68 • 16% Share) — Export-Bound Stock Diversion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5. Uasin Gishu / Eldoret (RISK 61 • 9% Share) — Parallel Batch Duplication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Counterfeit Dwell Time Reduced: 21 Days → 4.2 Hours</a:t>
            </a:r>
          </a:p>
        </p:txBody>
      </p:sp>
      <p:sp>
        <p:nvSpPr>
          <p:cNvPr id="13" name="What-If Policy Simulator"/>
          <p:cNvSpPr txBox="1"/>
          <p:nvPr/>
        </p:nvSpPr>
        <p:spPr>
          <a:xfrm>
            <a:off x="594360" y="4754880"/>
            <a:ext cx="11000232" cy="1417320"/>
          </a:xfrm>
          <a:prstGeom prst="roundRect">
            <a:avLst>
              <a:gd name="adj" fmla="val 4000"/>
            </a:avLst>
          </a:prstGeom>
          <a:solidFill>
            <a:srgbClr val="14110F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INTERACTIVE WHAT-IF EXCISE POLICY SIMULATOR (BUILT INTO #/REPORTS)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Decision-makers can dynamically model Retail POS Scan Compliance (10%–95%), VANBRANSA DOOH Coverage (15%–100%), and Mobile UV Checkpoints (2–30 units) to project up to Sh 62.4Bn/year in recovered national excise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SEAMLESS CUSTOMER &amp; OPERATOR JOURNEY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Tailored Experiences for Consumers, Retailers &amp; Field Inspectors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One unified Progressive Web App (PWA) with instant role-switching and contextual operator workflows.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08 / 10</a:t>
            </a:r>
          </a:p>
        </p:txBody>
      </p:sp>
      <p:sp>
        <p:nvSpPr>
          <p:cNvPr id="11" name="01 • CONSUMER PROTECTION"/>
          <p:cNvSpPr txBox="1"/>
          <p:nvPr/>
        </p:nvSpPr>
        <p:spPr>
          <a:xfrm>
            <a:off x="594360" y="1600200"/>
            <a:ext cx="3547872" cy="452628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01 • CONSUMER PROTECTION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Spots VANBRANSA roadside LED billboard or scans bottle neck QR code at a bar/retailer.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Zero-install web scanner scores unit in &lt;150ms: VERIFIED GENUINE (Risk 3) or ALREADY OPENED (Risk 74).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One-click 'Flag Unit to Aegis Enforcement' dispatches GPS coordinates &amp; triggers local alerts.</a:t>
            </a:r>
          </a:p>
        </p:txBody>
      </p:sp>
      <p:sp>
        <p:nvSpPr>
          <p:cNvPr id="12" name="02 • RETAILER &amp; HOSPITALITY POS"/>
          <p:cNvSpPr txBox="1"/>
          <p:nvPr/>
        </p:nvSpPr>
        <p:spPr>
          <a:xfrm>
            <a:off x="4325112" y="1600200"/>
            <a:ext cx="3547872" cy="452628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10B981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02 • RETAILER &amp; HOSPITALITY POS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Bottlers provision ECDSA-signed batches &amp; KRA stamp reels in /mint with printable QR sheets.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Hospitality venues verify wholesale deliveries upon intake and click 'POS Retire / Mark Opened' at sale.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Protects compliant bars and distributors from syndicate liability and license suspension.</a:t>
            </a:r>
          </a:p>
        </p:txBody>
      </p:sp>
      <p:sp>
        <p:nvSpPr>
          <p:cNvPr id="13" name="03 • KRA / KEBS FIELD INSPECTOR"/>
          <p:cNvSpPr txBox="1"/>
          <p:nvPr/>
        </p:nvSpPr>
        <p:spPr>
          <a:xfrm>
            <a:off x="8055864" y="1600200"/>
            <a:ext cx="3547872" cy="452628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F43F5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solidFill>
                  <a:srgbClr val="F43F5E"/>
                </a:solidFill>
                <a:latin typeface="Courier New"/>
                <a:ea typeface="Courier New"/>
                <a:cs typeface="Courier New"/>
              </a:rPr>
              <a:t>03 • KRA / KEBS FIELD INSPECTOR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Authenticates via Aegis Enforcement SSO into Inspector Mode with offline Bloom Filter cache.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Runs 365nm UV taggant spectrometry &amp; macro Stamp Photo pixel contrast analysis in the field.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Monitors Kenya Corridor Syndicate Radar (/trade), logs warrants, and generates AI dossiers (/reports).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QUALITY ASSURANCE &amp; AUDIT VERIFICATION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14 / 14 End-to-End Platform Audit Checkpoints Passed (100% Active)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Comprehensive audit across all 11 SPA routes, 6 interrelated modules, and offline-first PWA service worker.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09 / 10</a:t>
            </a:r>
          </a:p>
        </p:txBody>
      </p:sp>
      <p:sp>
        <p:nvSpPr>
          <p:cNvPr id="11" name="Audit Col 1"/>
          <p:cNvSpPr txBox="1"/>
          <p:nvPr/>
        </p:nvSpPr>
        <p:spPr>
          <a:xfrm>
            <a:off x="594360" y="1554480"/>
            <a:ext cx="5376672" cy="45720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CUSTOMER JOURNEY &amp; MODULE INTERRELATION (AUD-01 TO AUD-07)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AUD-01 Overview (#/): All 6 modules in grid + Hero quick-verify routes to #/verify.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AUD-02 Role Banner: Live Consumer / Retailer / Inspector context bar &amp; shortcuts.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AUD-03 Verify ↔ DOOH &amp; AI: 1-click Broadcast to DOOH &amp; Analyze in AI Cortex.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AUD-04 Optical Pixel Assay: HTML5 Canvas luminance σ &amp; SNR halftone detection.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AUD-05 POS Retirement Persistence: Saved to localStorage (RISK 74 across reloads).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AUD-06 Forensic Certificate: Downloadable HTML certificate with SVG DataMatrix QR.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AUD-07 Blueprint Simulator: 1-click 'Inspect Specimen in Live Scanner' handoff.</a:t>
            </a:r>
          </a:p>
        </p:txBody>
      </p:sp>
      <p:sp>
        <p:nvSpPr>
          <p:cNvPr id="12" name="Audit Col 2"/>
          <p:cNvSpPr txBox="1"/>
          <p:nvPr/>
        </p:nvSpPr>
        <p:spPr>
          <a:xfrm>
            <a:off x="6172200" y="1554480"/>
            <a:ext cx="5422392" cy="45720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10B981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95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ENFORCEMENT, DOOH, AI &amp; INFRASTRUCTURE (AUD-08 TO AUD-14)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AUD-08 Trade Radar ↔ DOOH &amp; AI: Sync County DOOH &amp; Case AI Brief buttons active.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AUD-09 Warrant Auto-Broadcast: Filing a report auto-switches county DOOH to Alert.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AUD-10 HSM Batch Minting (#/mint): Persists new lots &amp; updates Left Sidebar LOTS badge.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AUD-11 VANBRANSA DOOH (#/dooh): 5 regional 16:9 LED screens + live ALERT badge.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AUD-12 AI Cortex (#/reports): 4 neural presets, custom prompt, sliders, CSV/JSON export.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AUD-13 Console Auth: Login, SSO, Register, Forgot &amp; Reset Password forms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✔ AUD-14 Offline PWA (sw.js): Zero syntax errors; offline Bloom cache 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 Bar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 Line"/>
          <p:cNvSpPr/>
          <p:nvPr/>
        </p:nvSpPr>
        <p:spPr>
          <a:xfrm>
            <a:off x="594360" y="1298448"/>
            <a:ext cx="11000232" cy="12700"/>
          </a:xfrm>
          <a:prstGeom prst="rect">
            <a:avLst/>
          </a:prstGeom>
          <a:solidFill>
            <a:srgbClr val="2922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ogo Pill"/>
          <p:cNvSpPr/>
          <p:nvPr/>
        </p:nvSpPr>
        <p:spPr>
          <a:xfrm>
            <a:off x="9921240" y="292608"/>
            <a:ext cx="1673352" cy="49377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29221E"/>
            </a:solidFill>
          </a:ln>
        </p:spPr>
        <p:txBody>
          <a:bodyPr/>
          <a:lstStyle/>
          <a:p/>
        </p:txBody>
      </p:sp>
      <p:pic>
        <p:nvPicPr>
          <p:cNvPr id="6" name="VANBRANSA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12680" y="347472"/>
            <a:ext cx="1490472" cy="384048"/>
          </a:xfrm>
          <a:prstGeom prst="rect">
            <a:avLst/>
          </a:prstGeom>
        </p:spPr>
      </p:pic>
      <p:sp>
        <p:nvSpPr>
          <p:cNvPr id="7" name="Header Title"/>
          <p:cNvSpPr txBox="1"/>
          <p:nvPr/>
        </p:nvSpPr>
        <p:spPr>
          <a:xfrm>
            <a:off x="594360" y="237744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9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PROJECT AEGIS × VANBRANSA  •  NATIONAL ROLLOUT &amp; STRATEGIC PARTNERSHIP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22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Scaling Aegis × VANBRANSA Across Kenya &amp; East Africa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0" dirty="0">
                <a:solidFill>
                  <a:srgbClr val="A8A29E"/>
                </a:solidFill>
                <a:latin typeface="Inter"/>
                <a:ea typeface="Inter"/>
                <a:cs typeface="Inter"/>
              </a:rPr>
              <a:t>Production-ready today. Designed for rapid onboarding of licensed bottlers, KRA/KEBS taskforces, and DOOH networks.</a:t>
            </a:r>
          </a:p>
        </p:txBody>
      </p:sp>
      <p:sp>
        <p:nvSpPr>
          <p:cNvPr id="8" name="Footer Line"/>
          <p:cNvSpPr/>
          <p:nvPr/>
        </p:nvSpPr>
        <p:spPr>
          <a:xfrm>
            <a:off x="594360" y="6355080"/>
            <a:ext cx="11000232" cy="12700"/>
          </a:xfrm>
          <a:prstGeom prst="rect">
            <a:avLst/>
          </a:prstGeom>
          <a:solidFill>
            <a:srgbClr val="241E1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ooter Left"/>
          <p:cNvSpPr txBox="1"/>
          <p:nvPr/>
        </p:nvSpPr>
        <p:spPr>
          <a:xfrm>
            <a:off x="594360" y="64282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850" b="0" dirty="0">
                <a:solidFill>
                  <a:srgbClr val="78716C"/>
                </a:solidFill>
                <a:latin typeface="Courier New"/>
                <a:ea typeface="Courier New"/>
                <a:cs typeface="Courier New"/>
              </a:rPr>
              <a:t>AEGIS × VANBRANSA ANTI-COUNTERFEIT INFRASTRUCTURE  •  https://aegis-vanbransa.web.app</a:t>
            </a:r>
          </a:p>
        </p:txBody>
      </p:sp>
      <p:sp>
        <p:nvSpPr>
          <p:cNvPr id="10" name="Footer Right"/>
          <p:cNvSpPr txBox="1"/>
          <p:nvPr/>
        </p:nvSpPr>
        <p:spPr>
          <a:xfrm>
            <a:off x="8686800" y="64282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8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SLIDE 10 / 10</a:t>
            </a:r>
          </a:p>
        </p:txBody>
      </p:sp>
      <p:sp>
        <p:nvSpPr>
          <p:cNvPr id="11" name="Phase 1"/>
          <p:cNvSpPr txBox="1"/>
          <p:nvPr/>
        </p:nvSpPr>
        <p:spPr>
          <a:xfrm>
            <a:off x="594360" y="1572768"/>
            <a:ext cx="3547872" cy="29718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PHASE 1 • Q4 2026 (LIVE NOW)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Core Bottler &amp; DOOH 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28 high-speed bottling lines linked to Aegis HSM stamp binding.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42 prime VANBRANSA digital billboards across Nairobi, Nakuru, Mombasa &amp; Eldoret.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• Sh 164M/month verified excise recovery run-rate.</a:t>
            </a:r>
          </a:p>
        </p:txBody>
      </p:sp>
      <p:sp>
        <p:nvSpPr>
          <p:cNvPr id="12" name="Phase 2"/>
          <p:cNvSpPr txBox="1"/>
          <p:nvPr/>
        </p:nvSpPr>
        <p:spPr>
          <a:xfrm>
            <a:off x="4325112" y="1572768"/>
            <a:ext cx="3547872" cy="29718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29221E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F59E0B"/>
                </a:solidFill>
                <a:latin typeface="Courier New"/>
                <a:ea typeface="Courier New"/>
                <a:cs typeface="Courier New"/>
              </a:rPr>
              <a:t>PHASE 2 • Q1–Q2 2027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Hospitality POS &amp; Corridor Lock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Mandatory POS cryptographic bottle retirement across 12,000+ bars &amp; spirits outlets.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25 Mobile UV-365nm highway &amp; border inspection units (Busia, Namanga, Gilgil).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• Instant consumer airtime micro-rewards for table scans.</a:t>
            </a:r>
          </a:p>
        </p:txBody>
      </p:sp>
      <p:sp>
        <p:nvSpPr>
          <p:cNvPr id="13" name="Phase 3"/>
          <p:cNvSpPr txBox="1"/>
          <p:nvPr/>
        </p:nvSpPr>
        <p:spPr>
          <a:xfrm>
            <a:off x="8046720" y="1572768"/>
            <a:ext cx="3547872" cy="2971800"/>
          </a:xfrm>
          <a:prstGeom prst="roundRect">
            <a:avLst>
              <a:gd name="adj" fmla="val 4500"/>
            </a:avLst>
          </a:prstGeom>
          <a:solidFill>
            <a:srgbClr val="120F0D"/>
          </a:solidFill>
          <a:ln w="12700">
            <a:solidFill>
              <a:srgbClr val="10B981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1" dirty="0">
                <a:solidFill>
                  <a:srgbClr val="10B981"/>
                </a:solidFill>
                <a:latin typeface="Courier New"/>
                <a:ea typeface="Courier New"/>
                <a:cs typeface="Courier New"/>
              </a:rPr>
              <a:t>PHASE 3 • H2 2027+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EAC Cross-Border Standard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Full East African Community (KE, UG, TZ, RW) customs &amp; excise ledger federation.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0" dirty="0">
                <a:solidFill>
                  <a:srgbClr val="D6D3D1"/>
                </a:solidFill>
                <a:latin typeface="Inter"/>
                <a:ea typeface="Inter"/>
                <a:cs typeface="Inter"/>
              </a:rPr>
              <a:t>• Expansion to pharmaceuticals, agro-inputs, and FMCG tax stamps.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50" b="1" dirty="0">
                <a:solidFill>
                  <a:srgbClr val="10B981"/>
                </a:solidFill>
                <a:latin typeface="Inter"/>
                <a:ea typeface="Inter"/>
                <a:cs typeface="Inter"/>
              </a:rPr>
              <a:t>• Projected Sh 54Bn+ annual excise tax recovery.</a:t>
            </a:r>
          </a:p>
        </p:txBody>
      </p:sp>
      <p:sp>
        <p:nvSpPr>
          <p:cNvPr id="14" name="CTA Box"/>
          <p:cNvSpPr txBox="1"/>
          <p:nvPr/>
        </p:nvSpPr>
        <p:spPr>
          <a:xfrm>
            <a:off x="594360" y="4754880"/>
            <a:ext cx="11000232" cy="1417320"/>
          </a:xfrm>
          <a:prstGeom prst="roundRect">
            <a:avLst>
              <a:gd name="adj" fmla="val 4000"/>
            </a:avLst>
          </a:prstGeom>
          <a:solidFill>
            <a:srgbClr val="14110F"/>
          </a:solidFill>
          <a:ln w="12700">
            <a:solidFill>
              <a:srgbClr val="F97316"/>
            </a:solidFill>
          </a:ln>
        </p:spPr>
        <p:txBody>
          <a:bodyPr wrap="square" lIns="114300" tIns="91440" rIns="114300" bIns="9144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050" b="1" dirty="0">
                <a:solidFill>
                  <a:srgbClr val="F97316"/>
                </a:solidFill>
                <a:latin typeface="Courier New"/>
                <a:ea typeface="Courier New"/>
                <a:cs typeface="Courier New"/>
              </a:rPr>
              <a:t>EXPERIENCE THE LIVE PLATFORM &amp; AUDIT SUITE NOW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15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Live Web Application: https://aegis-vanbransa.web.app   |   Interactive Audit Matrix: https://aegis-vanbransa.web.app/audit-report.html   |   GitHub: github.com/tokgot-debug/aegis-vanbransa-verify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Theme">
  <a:themeElements>
    <a:clrScheme name="AegisDark">
      <a:dk1>
        <a:srgbClr val="080706"/>
      </a:dk1>
      <a:lt1>
        <a:srgbClr val="F5F5F4"/>
      </a:lt1>
      <a:dk2>
        <a:srgbClr val="120F0D"/>
      </a:dk2>
      <a:lt2>
        <a:srgbClr val="D6D3D1"/>
      </a:lt2>
      <a:accent1>
        <a:srgbClr val="F97316"/>
      </a:accent1>
      <a:accent2>
        <a:srgbClr val="F59E0B"/>
      </a:accent2>
      <a:accent3>
        <a:srgbClr val="10B981"/>
      </a:accent3>
      <a:accent4>
        <a:srgbClr val="F43F5E"/>
      </a:accent4>
      <a:accent5>
        <a:srgbClr val="FB923C"/>
      </a:accent5>
      <a:accent6>
        <a:srgbClr val="A8A29E"/>
      </a:accent6>
      <a:hlink>
        <a:srgbClr val="F97316"/>
      </a:hlink>
      <a:folHlink>
        <a:srgbClr val="FB923C"/>
      </a:folHlink>
    </a:clrScheme>
    <a:fontScheme name="AegisFonts">
      <a:majorFont>
        <a:latin typeface="Inter"/>
        <a:ea typeface="Inter"/>
        <a:cs typeface="Inter"/>
      </a:majorFont>
      <a:minorFont>
        <a:latin typeface="Inter"/>
        <a:ea typeface="Inter"/>
        <a:cs typeface="Inter"/>
      </a:minorFont>
    </a:fontScheme>
    <a:fmtScheme name="Aegis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Company>VANBRANSA x Project Aegis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Project Aegis x VANBRANSA — Executive Pitch Presentation</dc:title>
  <dc:creator>VANBRANSA x Project Aegis</dc:creator>
  <cp:lastModifiedBy>Project Aegis</cp:lastModifiedBy>
  <dcterms:created xsi:type="dcterms:W3CDTF">2026-10-22T08:00:00Z</dcterms:created>
  <dcterms:modified xsi:type="dcterms:W3CDTF">2026-10-22T08:05:00Z</dcterms:modified>
</cp:coreProperties>
</file>